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07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5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4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5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01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78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00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16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8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95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57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41385-B0CA-4A0D-8609-5FCAB8B01C75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CB8B2-B9EF-4636-8413-FF4C69B2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8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56"/>
          <a:stretch/>
        </p:blipFill>
        <p:spPr>
          <a:xfrm>
            <a:off x="1862427" y="589474"/>
            <a:ext cx="1962150" cy="2213292"/>
          </a:xfrm>
          <a:prstGeom prst="rect">
            <a:avLst/>
          </a:prstGeom>
        </p:spPr>
      </p:pic>
      <p:grpSp>
        <p:nvGrpSpPr>
          <p:cNvPr id="55" name="Group 54"/>
          <p:cNvGrpSpPr/>
          <p:nvPr/>
        </p:nvGrpSpPr>
        <p:grpSpPr>
          <a:xfrm>
            <a:off x="287062" y="4181694"/>
            <a:ext cx="2009335" cy="2657815"/>
            <a:chOff x="287062" y="4181694"/>
            <a:chExt cx="2009335" cy="2657815"/>
          </a:xfrm>
        </p:grpSpPr>
        <p:sp>
          <p:nvSpPr>
            <p:cNvPr id="35" name="TextBox 34"/>
            <p:cNvSpPr txBox="1"/>
            <p:nvPr/>
          </p:nvSpPr>
          <p:spPr>
            <a:xfrm>
              <a:off x="287062" y="5659830"/>
              <a:ext cx="17217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UWB:</a:t>
              </a:r>
            </a:p>
            <a:p>
              <a:pPr algn="ctr"/>
              <a:r>
                <a:rPr lang="en-US" dirty="0" smtClean="0"/>
                <a:t> 5 – 50 mm</a:t>
              </a:r>
              <a:endParaRPr lang="en-US" dirty="0"/>
            </a:p>
          </p:txBody>
        </p:sp>
        <p:pic>
          <p:nvPicPr>
            <p:cNvPr id="1026" name="Picture 2" descr="Mobile Phone Clipart High Res Stock Images | Shutter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9" t="8198" r="7391" b="13577"/>
            <a:stretch/>
          </p:blipFill>
          <p:spPr bwMode="auto">
            <a:xfrm>
              <a:off x="419670" y="4181694"/>
              <a:ext cx="1589103" cy="15495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/>
            <p:cNvSpPr txBox="1"/>
            <p:nvPr/>
          </p:nvSpPr>
          <p:spPr>
            <a:xfrm>
              <a:off x="379786" y="6193178"/>
              <a:ext cx="19166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UWB based</a:t>
              </a:r>
            </a:p>
            <a:p>
              <a:pPr algn="ctr"/>
              <a:r>
                <a:rPr lang="en-US" b="1" dirty="0" smtClean="0"/>
                <a:t>Eye tracking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461233" y="5126482"/>
              <a:ext cx="7508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 err="1" smtClean="0">
                  <a:latin typeface="Arial Narrow" panose="020B0606020202030204" pitchFamily="34" charset="0"/>
                </a:rPr>
                <a:t>Tx</a:t>
              </a:r>
              <a:r>
                <a:rPr lang="en-US" b="1" dirty="0" smtClean="0">
                  <a:latin typeface="Arial Narrow" panose="020B0606020202030204" pitchFamily="34" charset="0"/>
                </a:rPr>
                <a:t> Wave</a:t>
              </a:r>
              <a:endParaRPr lang="en-US" b="1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2375696" y="3499195"/>
            <a:ext cx="2473619" cy="2502315"/>
            <a:chOff x="2375696" y="3499195"/>
            <a:chExt cx="2473619" cy="2502315"/>
          </a:xfrm>
        </p:grpSpPr>
        <p:pic>
          <p:nvPicPr>
            <p:cNvPr id="47" name="Picture 4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56"/>
            <a:stretch/>
          </p:blipFill>
          <p:spPr>
            <a:xfrm>
              <a:off x="2887165" y="3788218"/>
              <a:ext cx="1962150" cy="2213292"/>
            </a:xfrm>
            <a:prstGeom prst="rect">
              <a:avLst/>
            </a:prstGeom>
          </p:spPr>
        </p:pic>
        <p:pic>
          <p:nvPicPr>
            <p:cNvPr id="36" name="Picture 2" descr="Mobile Phone Clipart High Res Stock Images | Shutterstock"/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05" t="8198" r="7391" b="13577"/>
            <a:stretch/>
          </p:blipFill>
          <p:spPr bwMode="auto">
            <a:xfrm flipH="1">
              <a:off x="2375696" y="3614957"/>
              <a:ext cx="423287" cy="15495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TextBox 68"/>
            <p:cNvSpPr txBox="1"/>
            <p:nvPr/>
          </p:nvSpPr>
          <p:spPr>
            <a:xfrm>
              <a:off x="2602096" y="3499195"/>
              <a:ext cx="7072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R</a:t>
              </a:r>
              <a:r>
                <a:rPr lang="en-US" b="1" dirty="0" smtClean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x Wave</a:t>
              </a:r>
              <a:endParaRPr lang="en-US" b="1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326488" y="129977"/>
            <a:ext cx="2342632" cy="3259526"/>
            <a:chOff x="326488" y="129977"/>
            <a:chExt cx="2342632" cy="3259526"/>
          </a:xfrm>
        </p:grpSpPr>
        <p:grpSp>
          <p:nvGrpSpPr>
            <p:cNvPr id="45" name="Group 44"/>
            <p:cNvGrpSpPr/>
            <p:nvPr/>
          </p:nvGrpSpPr>
          <p:grpSpPr>
            <a:xfrm>
              <a:off x="326488" y="129977"/>
              <a:ext cx="2342632" cy="3259526"/>
              <a:chOff x="326488" y="129977"/>
              <a:chExt cx="2342632" cy="3259526"/>
            </a:xfrm>
          </p:grpSpPr>
          <p:pic>
            <p:nvPicPr>
              <p:cNvPr id="9" name="Picture 8" descr="PrintTest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763" r="16932"/>
              <a:stretch/>
            </p:blipFill>
            <p:spPr bwMode="auto">
              <a:xfrm>
                <a:off x="397721" y="129977"/>
                <a:ext cx="1898676" cy="22914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TextBox 6"/>
              <p:cNvSpPr txBox="1"/>
              <p:nvPr/>
            </p:nvSpPr>
            <p:spPr>
              <a:xfrm>
                <a:off x="326488" y="2090256"/>
                <a:ext cx="17217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Near Infrared: 750 – 1500 nm</a:t>
                </a:r>
                <a:endParaRPr 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752509" y="2743172"/>
                <a:ext cx="19166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smtClean="0"/>
                  <a:t>Camera / IR based</a:t>
                </a:r>
              </a:p>
              <a:p>
                <a:pPr algn="ctr"/>
                <a:r>
                  <a:rPr lang="en-US" b="1" dirty="0" smtClean="0"/>
                  <a:t>Eye tracking</a:t>
                </a:r>
              </a:p>
            </p:txBody>
          </p:sp>
        </p:grpSp>
        <p:pic>
          <p:nvPicPr>
            <p:cNvPr id="10" name="Picture 6" descr="File:Drawing of a CCTV Camera.svg - Wikimedia Commons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747" y="638962"/>
              <a:ext cx="1008231" cy="627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7" name="Group 66"/>
          <p:cNvGrpSpPr/>
          <p:nvPr/>
        </p:nvGrpSpPr>
        <p:grpSpPr>
          <a:xfrm>
            <a:off x="4768565" y="4276156"/>
            <a:ext cx="2644764" cy="738664"/>
            <a:chOff x="4768565" y="4276156"/>
            <a:chExt cx="2644764" cy="738664"/>
          </a:xfrm>
        </p:grpSpPr>
        <p:sp>
          <p:nvSpPr>
            <p:cNvPr id="49" name="TextBox 48"/>
            <p:cNvSpPr txBox="1"/>
            <p:nvPr/>
          </p:nvSpPr>
          <p:spPr>
            <a:xfrm>
              <a:off x="5271515" y="4276156"/>
              <a:ext cx="2141814" cy="738664"/>
            </a:xfrm>
            <a:prstGeom prst="rect">
              <a:avLst/>
            </a:prstGeom>
            <a:noFill/>
            <a:ln w="254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UWB based tracking works even with closed eyelids, during sleep.</a:t>
              </a:r>
              <a:endParaRPr lang="en-US" sz="1400" dirty="0"/>
            </a:p>
          </p:txBody>
        </p:sp>
        <p:sp>
          <p:nvSpPr>
            <p:cNvPr id="3" name="Right Arrow 2"/>
            <p:cNvSpPr/>
            <p:nvPr/>
          </p:nvSpPr>
          <p:spPr>
            <a:xfrm>
              <a:off x="4768565" y="4505341"/>
              <a:ext cx="367598" cy="280294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7413329" y="4086274"/>
            <a:ext cx="2840542" cy="1078223"/>
            <a:chOff x="7413329" y="4086274"/>
            <a:chExt cx="2840542" cy="1078223"/>
          </a:xfrm>
        </p:grpSpPr>
        <p:sp>
          <p:nvSpPr>
            <p:cNvPr id="51" name="TextBox 50"/>
            <p:cNvSpPr txBox="1"/>
            <p:nvPr/>
          </p:nvSpPr>
          <p:spPr>
            <a:xfrm>
              <a:off x="8112057" y="4086274"/>
              <a:ext cx="2141814" cy="307777"/>
            </a:xfrm>
            <a:prstGeom prst="rect">
              <a:avLst/>
            </a:prstGeom>
            <a:noFill/>
            <a:ln w="254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REM sleep</a:t>
              </a:r>
              <a:endParaRPr lang="en-US" sz="14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112057" y="4856720"/>
              <a:ext cx="2141814" cy="307777"/>
            </a:xfrm>
            <a:prstGeom prst="rect">
              <a:avLst/>
            </a:prstGeom>
            <a:noFill/>
            <a:ln w="254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Non REM sleep</a:t>
              </a:r>
              <a:endParaRPr lang="en-US" sz="1400" dirty="0"/>
            </a:p>
          </p:txBody>
        </p:sp>
        <p:cxnSp>
          <p:nvCxnSpPr>
            <p:cNvPr id="11" name="Straight Arrow Connector 10"/>
            <p:cNvCxnSpPr>
              <a:stCxn id="49" idx="3"/>
              <a:endCxn id="51" idx="1"/>
            </p:cNvCxnSpPr>
            <p:nvPr/>
          </p:nvCxnSpPr>
          <p:spPr>
            <a:xfrm flipV="1">
              <a:off x="7413329" y="4240163"/>
              <a:ext cx="698728" cy="405325"/>
            </a:xfrm>
            <a:prstGeom prst="straightConnector1">
              <a:avLst/>
            </a:prstGeom>
            <a:ln w="635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9" idx="3"/>
              <a:endCxn id="52" idx="1"/>
            </p:cNvCxnSpPr>
            <p:nvPr/>
          </p:nvCxnSpPr>
          <p:spPr>
            <a:xfrm>
              <a:off x="7413329" y="4645488"/>
              <a:ext cx="698728" cy="365121"/>
            </a:xfrm>
            <a:prstGeom prst="straightConnector1">
              <a:avLst/>
            </a:prstGeom>
            <a:ln w="635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3873312" y="1266608"/>
            <a:ext cx="2439443" cy="738664"/>
            <a:chOff x="3873312" y="1266608"/>
            <a:chExt cx="2439443" cy="738664"/>
          </a:xfrm>
        </p:grpSpPr>
        <p:sp>
          <p:nvSpPr>
            <p:cNvPr id="48" name="TextBox 47"/>
            <p:cNvSpPr txBox="1"/>
            <p:nvPr/>
          </p:nvSpPr>
          <p:spPr>
            <a:xfrm>
              <a:off x="4170941" y="1266608"/>
              <a:ext cx="214181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Camera / IR based tracking fails with closed eyelids, during sleep.</a:t>
              </a:r>
              <a:endParaRPr lang="en-US" sz="1400" dirty="0"/>
            </a:p>
          </p:txBody>
        </p:sp>
        <p:sp>
          <p:nvSpPr>
            <p:cNvPr id="59" name="Right Arrow 58"/>
            <p:cNvSpPr/>
            <p:nvPr/>
          </p:nvSpPr>
          <p:spPr>
            <a:xfrm>
              <a:off x="3873312" y="1444557"/>
              <a:ext cx="367598" cy="280294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6448107" y="1266608"/>
            <a:ext cx="1272524" cy="636193"/>
            <a:chOff x="6448107" y="1266608"/>
            <a:chExt cx="1272524" cy="636193"/>
          </a:xfrm>
        </p:grpSpPr>
        <p:pic>
          <p:nvPicPr>
            <p:cNvPr id="50" name="Picture 20" descr="Red Wrong Cross Clip Art at Clker.com - vector clip art ...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5841" y="1266608"/>
              <a:ext cx="644790" cy="636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Right Arrow 62"/>
            <p:cNvSpPr/>
            <p:nvPr/>
          </p:nvSpPr>
          <p:spPr>
            <a:xfrm>
              <a:off x="6448107" y="1444557"/>
              <a:ext cx="367598" cy="280294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488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58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Goyal</dc:creator>
  <cp:lastModifiedBy>Ashish Goyal</cp:lastModifiedBy>
  <cp:revision>29</cp:revision>
  <dcterms:created xsi:type="dcterms:W3CDTF">2021-07-15T06:42:16Z</dcterms:created>
  <dcterms:modified xsi:type="dcterms:W3CDTF">2021-07-15T12:34:29Z</dcterms:modified>
</cp:coreProperties>
</file>